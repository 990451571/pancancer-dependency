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PanCancer-Dependency | 结果截至 2026-09-24；汇报版本 2026-10-10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README.md：研究目的、项目最终能够支持的表述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README.md：数据和评价方法；results/historical/final_evidence_synthesis_v2/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README.md；configs/deepdep_recovered_comparison_protocol_20260921.json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outputs/selective_dependency_lolo_v1/；README.md：阶段二</a:t>
            </a:r>
          </a:p>
          <a:p>
            <a:r>
              <a:t>概念示意；下方矩阵不代表任何实际基因或样本。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configs/deepdep_recovered_comparison_protocol_20260921.json；deepdep_recovered_comparison_v1/run.json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outputs/selective_dependency_lolo_v1/；outputs/selective_dependency_analysis_v1/</a:t>
            </a:r>
          </a:p>
          <a:p/>
          <a:p>
            <a:r>
              <a:t>图表均为原生可编辑形状；未显示的误差区间不代表不存在不确定性。</a:t>
            </a:r>
          </a:p>
          <a:p>
            <a:r>
              <a:t>该页为历史广基因空间残差评价，不可与后续 911 靶点比较表混排。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outputs/sanger_selective_dependency_v1/；README.md：阶段三</a:t>
            </a:r>
          </a:p>
          <a:p>
            <a:r>
              <a:t>历史冻结流程：直接表达 66 模型；映射表达 17 模型。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results/historical/advanced_model_benchmark_v1/；sanger_advanced_benchmark_v1/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results/historical/advanced_model_benchmark_v1/overall_summary.csv；bootstrap.csv</a:t>
            </a:r>
          </a:p>
          <a:p>
            <a:r>
              <a:t>首次受限靶点比较：911 个非 common-essential 基因；19 癌系等权。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results/historical/elastic_net_numerical_audit_v1/；elastic_net_upper_grid_v1/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results/historical/deepdep_expression_recovery_v1/；deepdep_recovered_comparison_v1/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configs/deepdep_recovered_comparison_protocol_20260921.json</a:t>
            </a:r>
          </a:p>
          <a:p>
            <a:r>
              <a:t>Exp-DeepDEP 为表达适配实现；架构示意不表示各层尺寸比例。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results/historical/deepdep_recovered_comparison_v1/training.csv.gz；run.json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results/historical/deepdep_recovered_comparison_v1/overall_summary.csv</a:t>
            </a:r>
          </a:p>
          <a:p>
            <a:r>
              <a:t>19 癌系等权；805 模型；911 个非 common-essential 靶点。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results/historical/deepdep_recovered_comparison_v1/bootstrap.csv；lineage_summary.csv</a:t>
            </a:r>
          </a:p>
          <a:p>
            <a:r>
              <a:t>差值 = DeepDEP − PCR；按癌系等权 bootstrap，n = 19。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results/historical/deepdep_recovered_comparison_v1/lineage_summary.csv</a:t>
            </a:r>
          </a:p>
          <a:p>
            <a:r>
              <a:t>每行一个留出癌系；颜色与数值均表示 NDCG@10，不显示独立误差区间。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results/historical/deepdep_recovered_comparison_v1/tuning.csv.gz</a:t>
            </a:r>
          </a:p>
          <a:p>
            <a:r>
              <a:t>曲线是重叠训练任务的描述性汇总；不能当作独立样本推断，亦未据此重新选 epoch。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results/historical/sanger_advanced_benchmark_v1/；README.md：阶段十</a:t>
            </a:r>
          </a:p>
          <a:p>
            <a:r>
              <a:t>历史高级模型外部比较：64 模型 / 13 癌系 / 871 共同评价基因；不是最新 DeepDEP 的外部结果。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outputs/tcga_patient_transfer_v1/；results/historical/tcga_locked_test_v1/</a:t>
            </a:r>
          </a:p>
          <a:p>
            <a:r>
              <a:t>本节均来自历史冻结核模型；患者无功能依赖标签。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results/historical/tcga_locked_test_v1/；冻结提交 73f9972</a:t>
            </a:r>
          </a:p>
          <a:p/>
          <a:p>
            <a:r>
              <a:t>图表均为原生可编辑形状；未显示的误差区间不代表不存在不确定性。</a:t>
            </a:r>
          </a:p>
          <a:p>
            <a:r>
              <a:t>ρ=0.7984 指冻结前20候选 Validation–Test 出现频率 Spearman。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results/historical/final_evidence_synthesis_v2/candidate_evidence_matrix.csv；ccrcc_primary_functional_audit_v1/</a:t>
            </a:r>
          </a:p>
          <a:p>
            <a:r>
              <a:t>患者来源资源结论限于 2026 年 9 月冻结审计范围，并非声称全球不存在相关数据。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results/historical/final_evidence_synthesis_v2/candidate_evidence_matrix.csv</a:t>
            </a:r>
          </a:p>
          <a:p>
            <a:r>
              <a:t>强调证据层次；候选展示顺序用于讨论，未改变冻结 discovery rank。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results/historical/final_evidence_synthesis_v2/candidate_evidence_matrix.csv</a:t>
            </a:r>
          </a:p>
          <a:p>
            <a:r>
              <a:t>左：DRIVE ccRCC 平均依赖残差与 bootstrap 区间；右：GTEx 肾组织最高中位 TPM。</a:t>
            </a:r>
          </a:p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Shi et al. Nature Cancer (2024), doi:10.1038/s43018-024-00789-y；DeepDEP (2021), PMC8378822</a:t>
            </a:r>
          </a:p>
          <a:p>
            <a:r>
              <a:t>文献差异不是性能优越性的证据；当前适配实现并非原论文逐项复现。</a:t>
            </a:r>
          </a:p>
          <a:p>
            <a:r>
              <a:t>图表均为原生可编辑形状；未显示的误差区间不代表不存在不确定性。</a:t>
            </a:r>
          </a:p>
          <a:p>
            <a:r>
              <a:t>Primary source: https://www.nature.com/articles/s43018-024-00789-y ; DeepDEP https://pmc.ncbi.nlm.nih.gov/articles/PMC8378822/ . Prior-work table is historical; the new model comparison does not replace historical patient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README.md：现有不足和偏差来源、下一步工作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README.md；results/historical/deepdep_recovered_comparison_v1/；final_evidence_synthesis_v2/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来源与解释：</a:t>
            </a:r>
          </a:p>
          <a:p>
            <a:r>
              <a:t>所有本项目数值可追溯到仓库 README、冻结配置与版本化 CSV；图形为原生可编辑对象。</a:t>
            </a:r>
          </a:p>
          <a:p/>
          <a:p>
            <a:r>
              <a:t>图表均为原生可编辑形状；未显示的误差区间不代表不存在不确定性。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泛癌选择性基因依赖预测</a:t>
            </a:r>
          </a:p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与 ccRCC 候选优先排序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PanCancer-Dependency | 结果截至 2026-09-24；汇报版本 2026-10-10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跨癌系泛化 · 跨平台复现 · 模型公平比较 · 患者证据边界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9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表达谱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细胞系 / 患者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566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063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209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选择性依赖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排除普遍必需基因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566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063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209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外部检验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40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CRISPR / RNAi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566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3063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3209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候选证据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840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功能与正常肾风险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核心发现：表达含有可迁移信号；复杂模型尚未稳定超过 PCR-ridge。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01 /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研究问题：从分子特征到可验证的功能假设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README.md：研究目的、项目最终能够支持的表述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0292" cy="20574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预测什么？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哪些基因对特定癌模型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比平均水平更重要？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50292" cy="20574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能否迁移？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在未见癌系和另一扰动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平台上，排序是否仍有效？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20240"/>
            <a:ext cx="50292" cy="2057400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证据到哪一步？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患者候选是否稳定？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正常肾是否存在功能风险？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功能依赖：基因受扰动后，细胞生长或存活受到影响。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研究目标是缩小功能实验范围；当前尚无患者匹配的基因扰动真值。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01 / DATA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公开数据构成分层证据链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README.md：数据和评价方法；results/historical/final_evidence_synthesis_v2/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14884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19293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数据层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874519"/>
            <a:ext cx="365760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984248"/>
            <a:ext cx="34381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规模 / 角色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25780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84248"/>
            <a:ext cx="50383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能够回答的问题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39"/>
            <a:ext cx="214884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8879"/>
            <a:ext cx="19293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DepMap 24Q4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377439"/>
            <a:ext cx="365760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2468879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873 模型；15,835 共有基因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377439"/>
            <a:ext cx="525780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468879"/>
            <a:ext cx="50383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表达能否预测细胞系 CRISPR 依赖？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99232"/>
            <a:ext cx="2148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90672"/>
            <a:ext cx="19293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跨癌系评价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999232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7208" y="3090672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805 模型；19 癌系；780 患者组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999232"/>
            <a:ext cx="5257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090672"/>
            <a:ext cx="50383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能否泛化到训练中未见的癌系？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21024"/>
            <a:ext cx="214884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712463"/>
            <a:ext cx="19293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Sanger / DRIVE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3621024"/>
            <a:ext cx="365760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07208" y="3712463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外部 CRISPR / 独立 RNAi 技术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621024"/>
            <a:ext cx="525780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712463"/>
            <a:ext cx="50383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依赖方向能否跨扰动平台复现？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42816"/>
            <a:ext cx="2148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334256"/>
            <a:ext cx="19293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TCGA-KIRC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4242816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07208" y="4334256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156 Train / 53 Validation / 51 Test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242816"/>
            <a:ext cx="5257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334256"/>
            <a:ext cx="50383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患者候选频率与表达方向是否稳定？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864608"/>
            <a:ext cx="214884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956048"/>
            <a:ext cx="19293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HPA / GTEx / 文献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4864608"/>
            <a:ext cx="365760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07208" y="4956048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正常组织暴露与直接扰动证据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864608"/>
            <a:ext cx="5257800" cy="621792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956048"/>
            <a:ext cx="50383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候选的支持、冲突与正常肾风险？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数据层级决定结论层级：表达稳定性不能替代功能验证。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02 /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分析框架：模型比较与患者证据分别审查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README.md；configs/deepdep_recovered_comparison_protocol_20260921.json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A  模型评价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1518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表达 → 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训练折内预处理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9718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46888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61518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癌系整组留出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4612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患者重叠清除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46888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61518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强基线比较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4612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PCR / EN / RRR / Deep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718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246888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61518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Sanger 复查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24612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按冻结门槛推进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B  历史患者分析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冻结核岭模型 → TCGA 映射 → 前 20 候选冻结 → Locked Test → 分层证据整合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患者候选来自历史冻结核模型，不能改称最新 PCR 或 DeepDEP 的候选。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02 / TARGET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依赖残差：区分普遍必需与相对选择性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概念示意；下方矩阵不代表任何实际基因或样本。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outputs/selective_dependency_lolo_v1/；README.md：阶段二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r(i,j) = y(i,j) − mean_train(j)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每个外层训练折单独计算基因均值；更负的残差表示更强的相对依赖。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490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普遍强依赖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5607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19655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3704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7490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谱系选择性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3208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77256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61304" y="4434840"/>
            <a:ext cx="32004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低依赖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50808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4856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8904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02952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87000" y="4434840"/>
            <a:ext cx="320040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主评价排除 release-wide common-essential；该注释未在每折内部重新估计。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残差反映相对依赖；残差低不自动意味着患者特异性或安全治疗窗。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02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整癌系留出与嵌套选择限制信息泄漏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configs/deepdep_recovered_comparison_protocol_20260921.json；deepdep_recovered_comparison_v1/run.json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9304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47088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2656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78224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36007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3792" y="2240280"/>
            <a:ext cx="448056" cy="685800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51576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67144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24928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82712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0496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56064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13848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771632" y="2240280"/>
            <a:ext cx="448056" cy="6858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18 个癌系：外层训练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1546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1 个癌系：外层评估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0" y="3017520"/>
            <a:ext cx="0" cy="64008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1520" y="3749039"/>
            <a:ext cx="6675120" cy="141732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13632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训练内部：5 个癌系折选择超参数 / epoch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720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训练内 PCA、标准化与残差均值；排除患者重叠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3749039"/>
            <a:ext cx="3566160" cy="1417320"/>
          </a:xfrm>
          <a:prstGeom prst="rect">
            <a:avLst/>
          </a:prstGeom>
          <a:solidFill>
            <a:srgbClr val="F8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最终比较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572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19 癌系等权 + 配对 bootstrap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最新模型比较属于开发期分析；不能称为未触碰的外部 Locked Test。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03 / EXPRESSION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表达携带稳定的选择性依赖排序信息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outputs/selective_dependency_lolo_v1/；outputs/selective_dependency_analysis_v1/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938528"/>
            <a:ext cx="0" cy="25877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07208" y="45994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80510" y="1938528"/>
            <a:ext cx="0" cy="25877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15918" y="45994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89220" y="1938528"/>
            <a:ext cx="0" cy="25877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4628" y="45994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97930" y="1938528"/>
            <a:ext cx="0" cy="25877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33338" y="45994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0.38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1938528"/>
            <a:ext cx="0" cy="25877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42048" y="45994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12264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训练选择性先验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130552"/>
            <a:ext cx="1993904" cy="384048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7144" y="21305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0.2248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46704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表达残差模型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364992"/>
            <a:ext cx="3705752" cy="384048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992" y="33649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0.4178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937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NDCG@10（越高越好）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+0.1930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8163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癌系等权 ΔNDCG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4903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2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19 /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癌系增益方向为正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支持表达具有可迁移的排序信息；12 个 ccRCC 模型不足以证明额外亚型优势。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03 / EXTERNAL CRISPR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跨平台复现为正，但具体基因名单准确率有限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历史冻结流程：直接表达 66 模型；映射表达 17 模型。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outputs/sanger_selective_dependency_v1/；README.md：阶段三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057400"/>
            <a:ext cx="0" cy="2651760"/>
          </a:xfrm>
          <a:prstGeom prst="line">
            <a:avLst/>
          </a:prstGeom>
          <a:ln w="1270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0" y="4818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-0.04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79" y="2057400"/>
            <a:ext cx="0" cy="2651760"/>
          </a:xfrm>
          <a:prstGeom prst="line">
            <a:avLst/>
          </a:prstGeom>
          <a:ln w="1270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0879" y="4818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+0.07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71010" y="2057400"/>
            <a:ext cx="0" cy="2651760"/>
          </a:xfrm>
          <a:prstGeom prst="line">
            <a:avLst/>
          </a:prstGeom>
          <a:ln w="1270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42410" y="4818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+0.00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81360" y="2057400"/>
            <a:ext cx="0" cy="2651760"/>
          </a:xfrm>
          <a:prstGeom prst="line">
            <a:avLst/>
          </a:prstGeom>
          <a:ln w="1270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52760" y="48188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+0.18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2402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直接表达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19028" y="2441448"/>
            <a:ext cx="1917580" cy="0"/>
          </a:xfrm>
          <a:prstGeom prst="line">
            <a:avLst/>
          </a:prstGeom>
          <a:ln w="38100">
            <a:solidFill>
              <a:srgbClr val="16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99387" y="2372868"/>
            <a:ext cx="137160" cy="137160"/>
          </a:xfrm>
          <a:prstGeom prst="ellipse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+0.1065  [+0.0776, +0.1360]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246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映射表达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45941" y="3447288"/>
            <a:ext cx="4544402" cy="0"/>
          </a:xfrm>
          <a:prstGeom prst="line">
            <a:avLst/>
          </a:prstGeom>
          <a:ln w="38100">
            <a:solidFill>
              <a:srgbClr val="16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93742" y="3378708"/>
            <a:ext cx="137160" cy="137160"/>
          </a:xfrm>
          <a:prstGeom prst="ellipse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+0.0576  [-0.0099, +0.1285]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212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ΔNDCG 相对训练标准化先验；95% bootstrap 区间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直接表达绝对 NDCG = 0.1670，真实 Top-10 重叠 = 0.0303；增益不等于高准确率。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04 / MODEL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公平比较必须固定输入、靶点与评价口径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results/historical/advanced_model_benchmark_v1/；sanger_advanced_benchmark_v1/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0292" cy="20574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相同输入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同一表达矩阵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同一模型 / 患者划分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50292" cy="20574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相同目标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1,204 个映射靶点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主评价 911 个非普遍必需基因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20240"/>
            <a:ext cx="50292" cy="20574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相同主终点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癌系等权 NDCG@10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训练内调参 + 配对区间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历史广基因空间、受限靶点空间、恢复表达后的比较：分别报告。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不能把不同基因空间、不同外部校准或不同聚合权重的分数混成一个排行榜。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04 / RESTRICTED TARGET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增加模型复杂度没有带来稳定的主终点增益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首次受限靶点比较：911 个非 common-essential 基因；19 癌系等权。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results/historical/advanced_model_benchmark_v1/overall_summary.csv；bootstrap.csv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720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051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1591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0.14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922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462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0.28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9793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3333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0.41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4204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12264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PCR-ridge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130552"/>
            <a:ext cx="3697016" cy="339425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0256" y="21305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0.4585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多任务低秩 RRR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715768"/>
            <a:ext cx="3704388" cy="339425"/>
          </a:xfrm>
          <a:prstGeom prst="rect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7628" y="271576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0.4594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82696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Elastic Net：共享 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300984"/>
            <a:ext cx="3570727" cy="339425"/>
          </a:xfrm>
          <a:prstGeom prst="rect">
            <a:avLst/>
          </a:prstGeom>
          <a:solidFill>
            <a:srgbClr val="708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3967" y="33009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0.4428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67911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Elastic Net：逐靶点 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886200"/>
            <a:ext cx="3331112" cy="339425"/>
          </a:xfrm>
          <a:prstGeom prst="rect">
            <a:avLst/>
          </a:prstGeom>
          <a:solidFill>
            <a:srgbClr val="708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4352" y="38862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0.4131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53128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Exp-DeepDEP 适配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4471416"/>
            <a:ext cx="2096445" cy="339425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9685" y="447141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0.2600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394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NDCG@10（越高越好）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148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RRR − PCR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7432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+0.0009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5204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95% CI</a:t>
            </a:r>
          </a:p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[−0.0043, +0.0060]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RRR 的点估计接近 PCR；区间跨 0，不支持主排序指标稳定获益。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04 / ELASTIC NET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数值审计排除了部分优化精度解释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results/historical/elastic_net_numerical_audit_v1/；elastic_net_upper_grid_v1/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92608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27066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实验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874519"/>
            <a:ext cx="192024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984248"/>
            <a:ext cx="1700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NDCG@10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874519"/>
            <a:ext cx="621792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1984248"/>
            <a:ext cx="5998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解释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39"/>
            <a:ext cx="2926080" cy="64008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8879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PCR-ridge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377439"/>
            <a:ext cx="1920240" cy="64008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2468879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0.4585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377439"/>
            <a:ext cx="6217920" cy="64008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468879"/>
            <a:ext cx="5998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同一受限靶点基准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17520"/>
            <a:ext cx="29260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08959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原 Elastic 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017520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3108959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0.4428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3017520"/>
            <a:ext cx="62179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4688" y="3108959"/>
            <a:ext cx="5998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原共享 α 拟合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57599"/>
            <a:ext cx="2926080" cy="64008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严格数值精化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657599"/>
            <a:ext cx="1920240" cy="64008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3749039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0.4405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3657599"/>
            <a:ext cx="6217920" cy="64008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749039"/>
            <a:ext cx="5998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精化后未追平 PCR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97679"/>
            <a:ext cx="29260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389119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扩大 α 上界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4297679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4448" y="4389119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0.4405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4297679"/>
            <a:ext cx="62179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4688" y="4389119"/>
            <a:ext cx="5998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19/19 癌系仍选择 α = 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上界网格 0.1 / 0.2 / 0.5 / 1.0；480,396 次靶点拟合通过数值认证。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结论仅覆盖已审计配置；更小 α 的完整选择过程及其他 l1_ratio 尚未穷尽。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05 / INPUT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恢复表达特征后重新配对比较 PCR 与 DeepDEP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results/historical/deepdep_expression_recovery_v1/；deepdep_recovered_comparison_v1/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修复前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23160"/>
            <a:ext cx="6185970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4770" y="2423160"/>
            <a:ext cx="1769309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200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4,678 实测 / 1,338 填补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修复后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94760"/>
            <a:ext cx="7119552" cy="59436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48352" y="3794760"/>
            <a:ext cx="835727" cy="59436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5,384 实测 / 632 填补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743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+706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恢复特征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两类模型共享恢复后的输入；仍有 632 个位置需要填补，不能称完整原论文复现。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05 /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两条模型路径使用同一恢复表达输入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Exp-DeepDEP 为表达适配实现；架构示意不表示各层尺寸比例。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configs/deepdep_recovered_comparison_protocol_20260921.json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PCR-ridge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2468880" cy="86868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3288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表达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986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6,016 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63347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423160"/>
            <a:ext cx="2468880" cy="86868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53288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训练内 PCA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8986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rank 32–256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63347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2423160"/>
            <a:ext cx="2468880" cy="86868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53288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8986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α 100–100,000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3347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8863" y="2423160"/>
            <a:ext cx="2468880" cy="868680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1" y="253288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依赖残差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1" y="28986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多靶点输出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75887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Exp-DeepDEP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87952"/>
            <a:ext cx="4297680" cy="603504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4281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表达编码器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1448" y="4297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6016 → 500 → 200 → 50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37760" y="4489704"/>
            <a:ext cx="548640" cy="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86400" y="4489704"/>
            <a:ext cx="0" cy="356616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40080" y="4910328"/>
            <a:ext cx="4297680" cy="603504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6519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基因指纹编码器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1448" y="502005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3115 → 1000 → 100 → 50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37760" y="5212080"/>
            <a:ext cx="548640" cy="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486400" y="4846320"/>
            <a:ext cx="0" cy="36576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86400" y="4846320"/>
            <a:ext cx="411480" cy="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596128" y="45628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462272"/>
            <a:ext cx="2743200" cy="877824"/>
          </a:xfrm>
          <a:prstGeom prst="rect">
            <a:avLst/>
          </a:prstGeom>
          <a:solidFill>
            <a:srgbClr val="E9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5720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拼接 → 依赖预测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00176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100 → 250 → 250 →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517136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500 cell–target pairs / batch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DeepDEP 使用既有非 KIRC 肿瘤预训练；主分析为残差目标，绝对依赖为次分析。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05 / COMPUTATIONAL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训练成本来自嵌套折、随机种子与成对批次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results/historical/deepdep_recovered_comparison_v1/training.csv.gz；run.json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66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外层留出癌系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23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920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66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5 × 3 ×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97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内层折 × 种子 × 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423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920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66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570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97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内层拟合，各 100 epoch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423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92024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0665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+ 114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9748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外层最终重拟合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60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684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011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完成拟合数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605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61,710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011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累计 epoch 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≈ 49.9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0118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记录的 epoch 耗时之和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49.9 h 不是总墙钟时间，也不是纯 GPU 利用时长；不能据此比较所有模型总成本。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06 / PRIMARY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恢复表达后，PCR 仍明显优于两种 DeepDEP 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19 癌系等权；805 模型；911 个非 common-essential 靶点。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results/historical/deepdep_recovered_comparison_v1/overall_summary.csv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938528"/>
            <a:ext cx="0" cy="286207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7208" y="4873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0510" y="1938528"/>
            <a:ext cx="0" cy="286207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15918" y="4873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0.14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9220" y="1938528"/>
            <a:ext cx="0" cy="286207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4628" y="4873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0.28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97930" y="1938528"/>
            <a:ext cx="0" cy="286207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33338" y="4873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0.41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0" y="1938528"/>
            <a:ext cx="0" cy="286207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42048" y="4873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12264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PCR-ridge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130552"/>
            <a:ext cx="3731387" cy="384048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4627" y="21305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0.4628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26664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DeepDEP 残差：主分析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3044952"/>
            <a:ext cx="2212859" cy="384048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6099" y="30449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0.2744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41063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DeepDEP 绝对值：次分析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959352"/>
            <a:ext cx="2442295" cy="384048"/>
          </a:xfrm>
          <a:prstGeom prst="rect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5535" y="39593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0.3029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212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NDCG@10（越高越好）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194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3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0.4628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26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PCR NDCG@10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404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0.4066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572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PCR 选择性命中率@10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在当前数据、训练协议和评价目标下，没有证据支持用 DeepDEP 替换 PCR。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06 / PAIRED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配对区间与逐癌系方向一致支持 PCR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差值 = DeepDEP − PCR；按癌系等权 bootstrap，n = 19。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results/historical/deepdep_recovered_comparison_v1/bootstrap.csv；lineage_summary.csv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011679"/>
            <a:ext cx="0" cy="2651761"/>
          </a:xfrm>
          <a:prstGeom prst="line">
            <a:avLst/>
          </a:prstGeom>
          <a:ln w="1270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0" y="47731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-0.25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011679"/>
            <a:ext cx="0" cy="2651761"/>
          </a:xfrm>
          <a:prstGeom prst="line">
            <a:avLst/>
          </a:prstGeom>
          <a:ln w="1270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0880" y="47731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-0.10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77400" y="2011679"/>
            <a:ext cx="0" cy="2651761"/>
          </a:xfrm>
          <a:prstGeom prst="line">
            <a:avLst/>
          </a:prstGeom>
          <a:ln w="1270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48800" y="47731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+0.00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81360" y="2011679"/>
            <a:ext cx="0" cy="2651761"/>
          </a:xfrm>
          <a:prstGeom prst="line">
            <a:avLst/>
          </a:prstGeom>
          <a:ln w="1270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52760" y="477316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+0.05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1945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残差主分析 − PCR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64050" y="2395727"/>
            <a:ext cx="1539715" cy="0"/>
          </a:xfrm>
          <a:prstGeom prst="line">
            <a:avLst/>
          </a:prstGeom>
          <a:ln w="38100">
            <a:solidFill>
              <a:srgbClr val="16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074108" y="2327147"/>
            <a:ext cx="137160" cy="137160"/>
          </a:xfrm>
          <a:prstGeom prst="ellipse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26060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-0.1883  [-0.2207, -0.1567]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2004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绝对值次分析 − PCR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14598" y="3401568"/>
            <a:ext cx="1576088" cy="0"/>
          </a:xfrm>
          <a:prstGeom prst="line">
            <a:avLst/>
          </a:prstGeom>
          <a:ln w="38100">
            <a:solidFill>
              <a:srgbClr val="16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759262" y="3332987"/>
            <a:ext cx="137160" cy="137160"/>
          </a:xfrm>
          <a:prstGeom prst="ellipse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61187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-0.1599  [-0.1936, -0.1282]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两种 DeepDEP 目标均在 19/19 个癌系低于 PCR；该结果不能外推为所有深度学习无效。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06 / LINEAGE-LEVEL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癌系异质性存在，但未出现 DeepDEP 优势癌系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每行一个留出癌系；颜色与数值均表示 NDCG@10，不显示独立误差区间。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results/historical/deepdep_recovered_comparison_v1/lineage_summary.csv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癌系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PCR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7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Deep 残差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Deep 绝对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Biliary 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39" y="2304288"/>
            <a:ext cx="841248" cy="274320"/>
          </a:xfrm>
          <a:prstGeom prst="rect">
            <a:avLst/>
          </a:prstGeom>
          <a:solidFill>
            <a:srgbClr val="44A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32257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0.515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7" y="2304288"/>
            <a:ext cx="841248" cy="274320"/>
          </a:xfrm>
          <a:prstGeom prst="rect">
            <a:avLst/>
          </a:prstGeom>
          <a:solidFill>
            <a:srgbClr val="9AC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5344" y="232257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0.263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0016" y="2304288"/>
            <a:ext cx="841248" cy="274320"/>
          </a:xfrm>
          <a:prstGeom prst="rect">
            <a:avLst/>
          </a:prstGeom>
          <a:solidFill>
            <a:srgbClr val="7EB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232257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Bladder/Urinary 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39" y="2615184"/>
            <a:ext cx="841248" cy="274320"/>
          </a:xfrm>
          <a:prstGeom prst="rect">
            <a:avLst/>
          </a:prstGeom>
          <a:solidFill>
            <a:srgbClr val="5CA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26334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7327" y="2615184"/>
            <a:ext cx="841248" cy="274320"/>
          </a:xfrm>
          <a:prstGeom prst="rect">
            <a:avLst/>
          </a:prstGeom>
          <a:solidFill>
            <a:srgbClr val="86C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95344" y="26334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2615184"/>
            <a:ext cx="841248" cy="274320"/>
          </a:xfrm>
          <a:prstGeom prst="rect">
            <a:avLst/>
          </a:prstGeom>
          <a:solidFill>
            <a:srgbClr val="72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6334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0.381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Bone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39" y="2926080"/>
            <a:ext cx="841248" cy="274320"/>
          </a:xfrm>
          <a:prstGeom prst="rect">
            <a:avLst/>
          </a:prstGeom>
          <a:solidFill>
            <a:srgbClr val="78B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62656" y="29443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0.363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7" y="2926080"/>
            <a:ext cx="841248" cy="274320"/>
          </a:xfrm>
          <a:prstGeom prst="rect">
            <a:avLst/>
          </a:prstGeom>
          <a:solidFill>
            <a:srgbClr val="99C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5344" y="29443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0016" y="2926080"/>
            <a:ext cx="841248" cy="274320"/>
          </a:xfrm>
          <a:prstGeom prst="rect">
            <a:avLst/>
          </a:prstGeom>
          <a:solidFill>
            <a:srgbClr val="87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9443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2369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Bowel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39" y="3236976"/>
            <a:ext cx="841248" cy="274320"/>
          </a:xfrm>
          <a:prstGeom prst="rect">
            <a:avLst/>
          </a:prstGeom>
          <a:solidFill>
            <a:srgbClr val="4BA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62656" y="325526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67327" y="3236976"/>
            <a:ext cx="841248" cy="274320"/>
          </a:xfrm>
          <a:prstGeom prst="rect">
            <a:avLst/>
          </a:prstGeom>
          <a:solidFill>
            <a:srgbClr val="A6D0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95344" y="325526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0016" y="3236976"/>
            <a:ext cx="841248" cy="274320"/>
          </a:xfrm>
          <a:prstGeom prst="rect">
            <a:avLst/>
          </a:prstGeom>
          <a:solidFill>
            <a:srgbClr val="81B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325526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547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Breast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39" y="3547872"/>
            <a:ext cx="841248" cy="274320"/>
          </a:xfrm>
          <a:prstGeom prst="rect">
            <a:avLst/>
          </a:prstGeom>
          <a:solidFill>
            <a:srgbClr val="61A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62656" y="356616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67327" y="3547872"/>
            <a:ext cx="841248" cy="274320"/>
          </a:xfrm>
          <a:prstGeom prst="rect">
            <a:avLst/>
          </a:prstGeom>
          <a:solidFill>
            <a:srgbClr val="9DC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95344" y="356616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0016" y="3547872"/>
            <a:ext cx="841248" cy="274320"/>
          </a:xfrm>
          <a:prstGeom prst="rect">
            <a:avLst/>
          </a:prstGeom>
          <a:solidFill>
            <a:srgbClr val="9EC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28032" y="356616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CNS/Brain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39" y="3858768"/>
            <a:ext cx="841248" cy="274320"/>
          </a:xfrm>
          <a:prstGeom prst="rect">
            <a:avLst/>
          </a:prstGeom>
          <a:solidFill>
            <a:srgbClr val="65B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62656" y="387705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67327" y="3858768"/>
            <a:ext cx="841248" cy="274320"/>
          </a:xfrm>
          <a:prstGeom prst="rect">
            <a:avLst/>
          </a:prstGeom>
          <a:solidFill>
            <a:srgbClr val="7FB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95344" y="387705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0.343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00016" y="3858768"/>
            <a:ext cx="841248" cy="274320"/>
          </a:xfrm>
          <a:prstGeom prst="rect">
            <a:avLst/>
          </a:prstGeom>
          <a:solidFill>
            <a:srgbClr val="82B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28032" y="387705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169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Esophagus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39" y="4169664"/>
            <a:ext cx="841248" cy="274320"/>
          </a:xfrm>
          <a:prstGeom prst="rect">
            <a:avLst/>
          </a:prstGeom>
          <a:solidFill>
            <a:srgbClr val="58A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62656" y="4187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0.456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67327" y="4169664"/>
            <a:ext cx="841248" cy="274320"/>
          </a:xfrm>
          <a:prstGeom prst="rect">
            <a:avLst/>
          </a:prstGeom>
          <a:solidFill>
            <a:srgbClr val="91C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95344" y="4187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0.291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0016" y="4169664"/>
            <a:ext cx="841248" cy="274320"/>
          </a:xfrm>
          <a:prstGeom prst="rect">
            <a:avLst/>
          </a:prstGeom>
          <a:solidFill>
            <a:srgbClr val="91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28032" y="4187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4805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Head / Neck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39" y="4480560"/>
            <a:ext cx="841248" cy="274320"/>
          </a:xfrm>
          <a:prstGeom prst="rect">
            <a:avLst/>
          </a:prstGeom>
          <a:solidFill>
            <a:srgbClr val="58A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62656" y="4498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0.456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67327" y="4480560"/>
            <a:ext cx="841248" cy="274320"/>
          </a:xfrm>
          <a:prstGeom prst="rect">
            <a:avLst/>
          </a:prstGeom>
          <a:solidFill>
            <a:srgbClr val="97C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95344" y="4498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0.273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0016" y="4480560"/>
            <a:ext cx="841248" cy="274320"/>
          </a:xfrm>
          <a:prstGeom prst="rect">
            <a:avLst/>
          </a:prstGeom>
          <a:solidFill>
            <a:srgbClr val="76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28032" y="4498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0.368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7914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Kidney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39" y="4791456"/>
            <a:ext cx="841248" cy="274320"/>
          </a:xfrm>
          <a:prstGeom prst="rect">
            <a:avLst/>
          </a:prstGeom>
          <a:solidFill>
            <a:srgbClr val="329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62656" y="48097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0.566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67327" y="4791456"/>
            <a:ext cx="841248" cy="274320"/>
          </a:xfrm>
          <a:prstGeom prst="rect">
            <a:avLst/>
          </a:prstGeom>
          <a:solidFill>
            <a:srgbClr val="85C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95344" y="48097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0.324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0016" y="4791456"/>
            <a:ext cx="841248" cy="274320"/>
          </a:xfrm>
          <a:prstGeom prst="rect">
            <a:avLst/>
          </a:prstGeom>
          <a:solidFill>
            <a:srgbClr val="8BC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28032" y="48097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5102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Liver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39" y="5102352"/>
            <a:ext cx="841248" cy="274320"/>
          </a:xfrm>
          <a:prstGeom prst="rect">
            <a:avLst/>
          </a:prstGeom>
          <a:solidFill>
            <a:srgbClr val="4BA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62656" y="51206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0.495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67327" y="5102352"/>
            <a:ext cx="841248" cy="274320"/>
          </a:xfrm>
          <a:prstGeom prst="rect">
            <a:avLst/>
          </a:prstGeom>
          <a:solidFill>
            <a:srgbClr val="7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95344" y="51206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0.355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0016" y="5102352"/>
            <a:ext cx="841248" cy="274320"/>
          </a:xfrm>
          <a:prstGeom prst="rect">
            <a:avLst/>
          </a:prstGeom>
          <a:solidFill>
            <a:srgbClr val="91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28032" y="51206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5508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癌系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49640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PCR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82328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Deep 残差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15016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Deep 绝对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55080" y="23042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Lung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49640" y="2304288"/>
            <a:ext cx="841248" cy="274320"/>
          </a:xfrm>
          <a:prstGeom prst="rect">
            <a:avLst/>
          </a:prstGeom>
          <a:solidFill>
            <a:srgbClr val="6EB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77656" y="232257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0.392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82328" y="2304288"/>
            <a:ext cx="841248" cy="274320"/>
          </a:xfrm>
          <a:prstGeom prst="rect">
            <a:avLst/>
          </a:prstGeom>
          <a:solidFill>
            <a:srgbClr val="AAD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10344" y="232257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0.217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15016" y="2304288"/>
            <a:ext cx="841248" cy="274320"/>
          </a:xfrm>
          <a:prstGeom prst="rect">
            <a:avLst/>
          </a:prstGeom>
          <a:solidFill>
            <a:srgbClr val="A2C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43032" y="232257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55080" y="2615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Lymphoid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49640" y="2615184"/>
            <a:ext cx="841248" cy="274320"/>
          </a:xfrm>
          <a:prstGeom prst="rect">
            <a:avLst/>
          </a:prstGeom>
          <a:solidFill>
            <a:srgbClr val="58A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77656" y="26334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0.455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482328" y="2615184"/>
            <a:ext cx="841248" cy="274320"/>
          </a:xfrm>
          <a:prstGeom prst="rect">
            <a:avLst/>
          </a:prstGeom>
          <a:solidFill>
            <a:srgbClr val="70B6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10344" y="26334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0.386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415016" y="2615184"/>
            <a:ext cx="841248" cy="274320"/>
          </a:xfrm>
          <a:prstGeom prst="rect">
            <a:avLst/>
          </a:prstGeom>
          <a:solidFill>
            <a:srgbClr val="71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43032" y="26334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0.383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55080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Myeloid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49640" y="2926080"/>
            <a:ext cx="841248" cy="274320"/>
          </a:xfrm>
          <a:prstGeom prst="rect">
            <a:avLst/>
          </a:prstGeom>
          <a:solidFill>
            <a:srgbClr val="4BA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77656" y="29443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0.494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482328" y="2926080"/>
            <a:ext cx="841248" cy="274320"/>
          </a:xfrm>
          <a:prstGeom prst="rect">
            <a:avLst/>
          </a:prstGeom>
          <a:solidFill>
            <a:srgbClr val="91C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10344" y="29443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0.291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15016" y="2926080"/>
            <a:ext cx="841248" cy="274320"/>
          </a:xfrm>
          <a:prstGeom prst="rect">
            <a:avLst/>
          </a:prstGeom>
          <a:solidFill>
            <a:srgbClr val="87C1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43032" y="29443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0.319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55080" y="32369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Ovary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49640" y="3236976"/>
            <a:ext cx="841248" cy="274320"/>
          </a:xfrm>
          <a:prstGeom prst="rect">
            <a:avLst/>
          </a:prstGeom>
          <a:solidFill>
            <a:srgbClr val="53A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77656" y="325526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0.472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482328" y="3236976"/>
            <a:ext cx="841248" cy="274320"/>
          </a:xfrm>
          <a:prstGeom prst="rect">
            <a:avLst/>
          </a:prstGeom>
          <a:solidFill>
            <a:srgbClr val="99C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10344" y="325526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0.268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415016" y="3236976"/>
            <a:ext cx="841248" cy="274320"/>
          </a:xfrm>
          <a:prstGeom prst="rect">
            <a:avLst/>
          </a:prstGeom>
          <a:solidFill>
            <a:srgbClr val="98C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43032" y="325526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0.269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55080" y="3547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Pancreas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49640" y="3547872"/>
            <a:ext cx="841248" cy="274320"/>
          </a:xfrm>
          <a:prstGeom prst="rect">
            <a:avLst/>
          </a:prstGeom>
          <a:solidFill>
            <a:srgbClr val="3C9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677656" y="356616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0.536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482328" y="3547872"/>
            <a:ext cx="841248" cy="274320"/>
          </a:xfrm>
          <a:prstGeom prst="rect">
            <a:avLst/>
          </a:prstGeom>
          <a:solidFill>
            <a:srgbClr val="9BC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610344" y="356616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0.262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415016" y="3547872"/>
            <a:ext cx="841248" cy="274320"/>
          </a:xfrm>
          <a:prstGeom prst="rect">
            <a:avLst/>
          </a:prstGeom>
          <a:solidFill>
            <a:srgbClr val="83B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543032" y="356616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0.331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5508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PNS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49640" y="3858768"/>
            <a:ext cx="841248" cy="274320"/>
          </a:xfrm>
          <a:prstGeom prst="rect">
            <a:avLst/>
          </a:prstGeom>
          <a:solidFill>
            <a:srgbClr val="78B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677656" y="387705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0.364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82328" y="3858768"/>
            <a:ext cx="841248" cy="274320"/>
          </a:xfrm>
          <a:prstGeom prst="rect">
            <a:avLst/>
          </a:prstGeom>
          <a:solidFill>
            <a:srgbClr val="B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10344" y="387705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0.183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415016" y="3858768"/>
            <a:ext cx="841248" cy="274320"/>
          </a:xfrm>
          <a:prstGeom prst="rect">
            <a:avLst/>
          </a:prstGeom>
          <a:solidFill>
            <a:srgbClr val="A0C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543032" y="387705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0.247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355080" y="41696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Skin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549640" y="4169664"/>
            <a:ext cx="841248" cy="274320"/>
          </a:xfrm>
          <a:prstGeom prst="rect">
            <a:avLst/>
          </a:prstGeom>
          <a:solidFill>
            <a:srgbClr val="269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77656" y="4187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0.603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482328" y="4169664"/>
            <a:ext cx="841248" cy="274320"/>
          </a:xfrm>
          <a:prstGeom prst="rect">
            <a:avLst/>
          </a:prstGeom>
          <a:solidFill>
            <a:srgbClr val="A1C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610344" y="4187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0.244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415016" y="4169664"/>
            <a:ext cx="841248" cy="274320"/>
          </a:xfrm>
          <a:prstGeom prst="rect">
            <a:avLst/>
          </a:prstGeom>
          <a:solidFill>
            <a:srgbClr val="A0C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543032" y="4187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0.248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05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Soft Tissue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549640" y="4480560"/>
            <a:ext cx="841248" cy="274320"/>
          </a:xfrm>
          <a:prstGeom prst="rect">
            <a:avLst/>
          </a:prstGeom>
          <a:solidFill>
            <a:srgbClr val="6CB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77656" y="4498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0.398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482328" y="4480560"/>
            <a:ext cx="841248" cy="274320"/>
          </a:xfrm>
          <a:prstGeom prst="rect">
            <a:avLst/>
          </a:prstGeom>
          <a:solidFill>
            <a:srgbClr val="A5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610344" y="4498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0.231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415016" y="4480560"/>
            <a:ext cx="841248" cy="274320"/>
          </a:xfrm>
          <a:prstGeom prst="rect">
            <a:avLst/>
          </a:prstGeom>
          <a:solidFill>
            <a:srgbClr val="97C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43032" y="4498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0.272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55080" y="47914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Uterus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49640" y="4791456"/>
            <a:ext cx="841248" cy="274320"/>
          </a:xfrm>
          <a:prstGeom prst="rect">
            <a:avLst/>
          </a:prstGeom>
          <a:solidFill>
            <a:srgbClr val="5E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677656" y="48097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0.440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482328" y="4791456"/>
            <a:ext cx="841248" cy="274320"/>
          </a:xfrm>
          <a:prstGeom prst="rect">
            <a:avLst/>
          </a:prstGeom>
          <a:solidFill>
            <a:srgbClr val="ACD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10344" y="48097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415016" y="4791456"/>
            <a:ext cx="841248" cy="274320"/>
          </a:xfrm>
          <a:prstGeom prst="rect">
            <a:avLst/>
          </a:prstGeom>
          <a:solidFill>
            <a:srgbClr val="A5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543032" y="48097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0.231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Kidney：PCR 0.5661，Deep 残差 0.3238，Deep 绝对值 0.3070；Kidney 不等同于 ccRCC。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06 / TRAINING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延长同类训练缺乏明确收益依据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曲线是重叠训练任务的描述性汇总；不能当作独立样本推断，亦未据此重新选 epoch。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results/historical/deepdep_recovered_comparison_v1/tuning.csv.gz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4846320"/>
            <a:ext cx="6675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274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0.20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3474720"/>
            <a:ext cx="6675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3558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2103120"/>
            <a:ext cx="6675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9842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0.32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325880" y="3616608"/>
            <a:ext cx="788670" cy="279751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14550" y="3389108"/>
            <a:ext cx="788670" cy="227500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903220" y="3292437"/>
            <a:ext cx="788669" cy="96671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691889" y="3101179"/>
            <a:ext cx="788671" cy="191258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0560" y="3101179"/>
            <a:ext cx="788670" cy="69520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69230" y="3170699"/>
            <a:ext cx="788670" cy="17595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57900" y="3188294"/>
            <a:ext cx="788670" cy="67285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46570" y="3255579"/>
            <a:ext cx="788670" cy="58637"/>
          </a:xfrm>
          <a:prstGeom prst="line">
            <a:avLst/>
          </a:prstGeom>
          <a:ln w="29209">
            <a:solidFill>
              <a:srgbClr val="CE8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84732" y="3855211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73402" y="3575460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62072" y="3347960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0741" y="3251289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39412" y="3060031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28082" y="3129551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16752" y="3147146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5422" y="3214431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94092" y="3273068"/>
            <a:ext cx="82296" cy="82296"/>
          </a:xfrm>
          <a:prstGeom prst="ellipse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1325880" y="3809045"/>
            <a:ext cx="788670" cy="485897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114550" y="3299803"/>
            <a:ext cx="788670" cy="509242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903220" y="2941780"/>
            <a:ext cx="788669" cy="358023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91889" y="2689947"/>
            <a:ext cx="788671" cy="251833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80560" y="2689947"/>
            <a:ext cx="788670" cy="13203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269230" y="2661066"/>
            <a:ext cx="788670" cy="42084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57900" y="2661066"/>
            <a:ext cx="788670" cy="54172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46570" y="2715238"/>
            <a:ext cx="788670" cy="13583"/>
          </a:xfrm>
          <a:prstGeom prst="line">
            <a:avLst/>
          </a:prstGeom>
          <a:ln w="29209">
            <a:solidFill>
              <a:srgbClr val="527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284732" y="4253794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073402" y="3767897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62072" y="3258655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50741" y="2900632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39412" y="2648799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28082" y="2662002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16752" y="2619918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05422" y="2674090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94092" y="2687673"/>
            <a:ext cx="82296" cy="82296"/>
          </a:xfrm>
          <a:prstGeom prst="ellipse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043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910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777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6441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378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245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112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9792" y="4956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528523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Epoch（检查点等距显示）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1755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内层平均 NDCG@10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2286000"/>
            <a:ext cx="228600" cy="182880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32520" y="2194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残差目标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2926080"/>
            <a:ext cx="228600" cy="182880"/>
          </a:xfrm>
          <a:prstGeom prst="rect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32520" y="2834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绝对值目标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38862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性能未随 epoch</a:t>
            </a:r>
          </a:p>
          <a:p>
            <a:pPr>
              <a:spcAft>
                <a:spcPts val="300"/>
              </a:spcAft>
              <a:defRPr sz="23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持续上升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当前证据支持停止追加同类训练；输入恢复与批次修复的各自因果贡献尚未分离。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06 / EXTERNAL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受限靶点的 Sanger 外部比较同样未支持复杂模型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历史高级模型外部比较：64 模型 / 13 癌系 / 871 共同评价基因；不是最新 DeepDEP 的外部结果。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results/historical/sanger_advanced_benchmark_v1/；README.md：阶段十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19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720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051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1591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922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462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9793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3333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0.30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0" y="1938528"/>
            <a:ext cx="0" cy="3044952"/>
          </a:xfrm>
          <a:prstGeom prst="line">
            <a:avLst/>
          </a:prstGeom>
          <a:ln w="1016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42048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0.40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12264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PCR-ridge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130552"/>
            <a:ext cx="3715287" cy="339425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8527" y="21305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0.3351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多任务低秩 RRR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715768"/>
            <a:ext cx="3625481" cy="339425"/>
          </a:xfrm>
          <a:prstGeom prst="rect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721" y="271576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0.3270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82696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Elastic 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300984"/>
            <a:ext cx="3358282" cy="339425"/>
          </a:xfrm>
          <a:prstGeom prst="rect">
            <a:avLst/>
          </a:prstGeom>
          <a:solidFill>
            <a:srgbClr val="708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1522" y="330098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0.3029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67911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Exp-DeepDEP 适配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886200"/>
            <a:ext cx="1846002" cy="339425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9242" y="38862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0.1665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53128"/>
            <a:ext cx="22219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训练先验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4471416"/>
            <a:ext cx="803814" cy="339425"/>
          </a:xfrm>
          <a:prstGeom prst="rect">
            <a:avLst/>
          </a:prstGeom>
          <a:solidFill>
            <a:srgbClr val="708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67054" y="447141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0.0725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394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NDCG@10（越高越好）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194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RRR − PCR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834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−0.0082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576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95% CI</a:t>
            </a:r>
          </a:p>
          <a:p>
            <a:pPr>
              <a:spcAft>
                <a:spcPts val="300"/>
              </a:spcAft>
              <a:defRPr sz="18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[−0.0336, +0.0159]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最新恢复表达 DeepDEP 未通过内部推进门槛，因此没有新一轮 Sanger 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07 / PATIENT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患者域：队列稳定性与映射敏感性同时存在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本节均来自历史冻结核模型；患者无功能依赖标签。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outputs/tcga_patient_transfer_v1/；results/historical/tcga_locked_test_v1/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driver Kidney 中性化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67128"/>
            <a:ext cx="5436473" cy="356616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18201" y="21488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0.9909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6207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driver non-Kidney 中性化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880360"/>
            <a:ext cx="5396971" cy="356616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78699" y="28620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0.9837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75304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映射替代假设（开发）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593592"/>
            <a:ext cx="2003084" cy="356616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812" y="357530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0.3651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88536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映射替代假设（Test）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306823"/>
            <a:ext cx="1979493" cy="356616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1221" y="428853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0.3608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12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患者 Top-10 名单平均重叠（0–1）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表达映射是重要不确定性：合理映射之间仅约 36% 的头部候选相同。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07 / LOCKED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Locked Test 确认了稳定性，没有确认患者功能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results/historical/tcga_locked_test_v1/；冻结提交 73f9972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1226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冻结协议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模型 / 映射 / 候选 / 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96596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1226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一次正式访问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51 个患者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96596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1226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频率稳定性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前 20：ρ = 0.7984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965960"/>
            <a:ext cx="2450592" cy="160020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11226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配对表达方向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743200"/>
            <a:ext cx="21762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14 对肿瘤 / 正常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区间支持预设表达方向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PAX8 · FERMT2 · CCND1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14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方向相同，但区间跨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63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HNF1B：尚未确认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Test 已被正式访问；不能再充当新 PCR 或新 DeepDEP 的独立确认集。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08 / CANDIDATE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证据逐层收窄：计算候选不等同于治疗靶点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患者来源资源结论限于 2026 年 9 月冻结审计范围，并非声称全球不存在相关数据。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results/historical/final_evidence_synthesis_v2/candidate_evidence_matrix.csv；ccrcc_primary_functional_audit_v1/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74519"/>
            <a:ext cx="9144000" cy="603504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94767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011679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冻结计算候选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679191"/>
            <a:ext cx="7315200" cy="603504"/>
          </a:xfrm>
          <a:prstGeom prst="rect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75234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16351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DRIVE 文库覆盖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3483863"/>
            <a:ext cx="5577840" cy="603504"/>
          </a:xfrm>
          <a:prstGeom prst="rect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557015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621023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ccRCC RNAi 绝对残差区间 &lt;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4288536"/>
            <a:ext cx="3931920" cy="603504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361688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425696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相对其他 Kidney 的 RNAi 区间 &lt;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2578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AC5960"/>
                </a:solidFill>
                <a:latin typeface="Microsoft YaHei"/>
              </a:defRPr>
            </a:pPr>
            <a:r>
              <a:rPr>
                <a:ea typeface="Microsoft YaHei"/>
              </a:rPr>
              <a:t>0 个候选获得该审计范围内的患者来源功能真值确认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DRIVE 是独立扰动技术，部分细胞系重叠；不能称为独立患者队列验证。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08 /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主要候选的功能支持与风险并存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强调证据层次；候选展示顺序用于讨论，未改变冻结 discovery rank。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results/historical/final_evidence_synthesis_v2/candidate_evidence_matrix.csv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55448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13350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候选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874519"/>
            <a:ext cx="192024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1984248"/>
            <a:ext cx="1700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RNAi 依赖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874519"/>
            <a:ext cx="205740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8" y="1984248"/>
            <a:ext cx="18379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相对 Kidney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874519"/>
            <a:ext cx="219456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984248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直接文献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874519"/>
            <a:ext cx="333756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84248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正常肾风险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77439"/>
            <a:ext cx="155448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68879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PAX8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377439"/>
            <a:ext cx="192024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2468879"/>
            <a:ext cx="170078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支持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377439"/>
            <a:ext cx="205740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3088" y="2468879"/>
            <a:ext cx="1837943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支持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377439"/>
            <a:ext cx="219456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468879"/>
            <a:ext cx="1975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支持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377439"/>
            <a:ext cx="333756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2468879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表达 + 类器官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80944"/>
            <a:ext cx="15544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072384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HNF1B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980944"/>
            <a:ext cx="19202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072384"/>
            <a:ext cx="170078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支持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980944"/>
            <a:ext cx="205740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8" y="3072384"/>
            <a:ext cx="1837943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区间跨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980944"/>
            <a:ext cx="21945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072384"/>
            <a:ext cx="1975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非同行评议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2980944"/>
            <a:ext cx="33375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8" y="3072384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表达 + 类器官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584448"/>
            <a:ext cx="155448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675887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FERMT2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3584448"/>
            <a:ext cx="192024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12848" y="3675887"/>
            <a:ext cx="170078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支持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3584448"/>
            <a:ext cx="205740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3088" y="3675887"/>
            <a:ext cx="1837943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未建立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584448"/>
            <a:ext cx="219456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0488" y="3675887"/>
            <a:ext cx="1975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证据缺口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3584448"/>
            <a:ext cx="333756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8" y="3675887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表达暴露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187952"/>
            <a:ext cx="15544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279392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CCND1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4187952"/>
            <a:ext cx="19202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12848" y="4279392"/>
            <a:ext cx="170078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区间跨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0" y="4187952"/>
            <a:ext cx="205740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33088" y="4279392"/>
            <a:ext cx="1837943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未建立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4187952"/>
            <a:ext cx="21945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0488" y="4279392"/>
            <a:ext cx="1975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支持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4187952"/>
            <a:ext cx="33375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85048" y="4279392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治疗窗未知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791456"/>
            <a:ext cx="155448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4882896"/>
            <a:ext cx="133502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YPEL5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4791456"/>
            <a:ext cx="192024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12848" y="4882896"/>
            <a:ext cx="170078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未形成支持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4791456"/>
            <a:ext cx="205740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33088" y="4882896"/>
            <a:ext cx="1837943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未建立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4791456"/>
            <a:ext cx="219456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0488" y="4882896"/>
            <a:ext cx="1975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反向证据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320" y="4791456"/>
            <a:ext cx="3337560" cy="603504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85048" y="4882896"/>
            <a:ext cx="311810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非优先抑制靶点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PAX8 证据最一致，但没有证明治疗窗；YPEL5 存在与优先抑制方向冲突的证据。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08 / FUNCTION VERSUS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正交 RNAi 支持不能消除正常肾暴露问题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左：DRIVE ccRCC 平均依赖残差与 bootstrap 区间；右：GTEx 肾组织最高中位 TPM。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results/historical/final_evidence_synthesis_v2/candidate_evidence_matrix.csv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PAX8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20174" y="2423160"/>
            <a:ext cx="1579653" cy="0"/>
          </a:xfrm>
          <a:prstGeom prst="line">
            <a:avLst/>
          </a:prstGeom>
          <a:ln w="38100">
            <a:solidFill>
              <a:srgbClr val="16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9699" y="2359152"/>
            <a:ext cx="128016" cy="128016"/>
          </a:xfrm>
          <a:prstGeom prst="ellipse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258568"/>
            <a:ext cx="2491754" cy="329184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5826" y="224027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351.6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4553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HNF1B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66381" y="3282696"/>
            <a:ext cx="1750357" cy="0"/>
          </a:xfrm>
          <a:prstGeom prst="line">
            <a:avLst/>
          </a:prstGeom>
          <a:ln w="38100">
            <a:solidFill>
              <a:srgbClr val="16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701096" y="3218688"/>
            <a:ext cx="128016" cy="128016"/>
          </a:xfrm>
          <a:prstGeom prst="ellipse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118103"/>
            <a:ext cx="693773" cy="329184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845" y="3099815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97.9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0507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FERMT2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99057" y="4142231"/>
            <a:ext cx="1137994" cy="0"/>
          </a:xfrm>
          <a:prstGeom prst="line">
            <a:avLst/>
          </a:prstGeom>
          <a:ln w="38100">
            <a:solidFill>
              <a:srgbClr val="16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728414" y="4078223"/>
            <a:ext cx="128016" cy="128016"/>
          </a:xfrm>
          <a:prstGeom prst="ellipse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977639"/>
            <a:ext cx="237125" cy="329184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197" y="3959351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33.5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29840" y="4663440"/>
            <a:ext cx="0" cy="9144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65248" y="4800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-1.2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92880" y="4663440"/>
            <a:ext cx="0" cy="9144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28288" y="4800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-0.6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55920" y="4663440"/>
            <a:ext cx="0" cy="9144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91328" y="4800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4663440"/>
            <a:ext cx="0" cy="9144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23760" y="4800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32520" y="4663440"/>
            <a:ext cx="0" cy="9144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41080" y="4800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200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49840" y="4663440"/>
            <a:ext cx="0" cy="9144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58400" y="4800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400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55920" y="1920240"/>
            <a:ext cx="0" cy="2743200"/>
          </a:xfrm>
          <a:prstGeom prst="line">
            <a:avLst/>
          </a:prstGeom>
          <a:ln w="16510">
            <a:solidFill>
              <a:srgbClr val="70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86000" y="51663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更负 = 更强相对依赖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1663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0–400 TPM；暴露而非毒性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正常肾类器官发育扰动提示风险；不能直接换算为成人肾毒性或临床安全窗。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09 /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与既有工作的区别在评价问题与证据审计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07592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文献差异不是性能优越性的证据；当前适配实现并非原论文逐项复现。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Shi et al. Nature Cancer (2024), doi:10.1038/s43018-024-00789-y；DeepDEP (2021), PMC8378822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96596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17465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874519"/>
            <a:ext cx="457200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984248"/>
            <a:ext cx="435254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TCGA-DEPMAP / DeepDEP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874519"/>
            <a:ext cx="4526280" cy="502920"/>
          </a:xfrm>
          <a:prstGeom prst="rect">
            <a:avLst/>
          </a:prstGeom>
          <a:solidFill>
            <a:srgbClr val="18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1984248"/>
            <a:ext cx="4306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本项目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77439"/>
            <a:ext cx="1965960" cy="73152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68879"/>
            <a:ext cx="17465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核心目标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377439"/>
            <a:ext cx="4572000" cy="73152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8" y="2468879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泛癌依赖预测与患者转化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2377439"/>
            <a:ext cx="4526280" cy="73152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2468879"/>
            <a:ext cx="43068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选择性依赖排序与 ccRCC 候选审计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08959"/>
            <a:ext cx="19659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200400"/>
            <a:ext cx="17465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当前侧重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3108959"/>
            <a:ext cx="45720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320040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患者关联、转化资源与实验支持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108959"/>
            <a:ext cx="45262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3200400"/>
            <a:ext cx="43068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整癌系留出、强基线、数值与输入审计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40479"/>
            <a:ext cx="1965960" cy="73152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31920"/>
            <a:ext cx="17465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患者证据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3840479"/>
            <a:ext cx="4572000" cy="73152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4328" y="393192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各自设计的临床关联 / 实验验证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840479"/>
            <a:ext cx="4526280" cy="731520"/>
          </a:xfrm>
          <a:prstGeom prst="rect">
            <a:avLst/>
          </a:prstGeom>
          <a:solidFill>
            <a:srgbClr val="F0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3931920"/>
            <a:ext cx="43068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冻结 Test 的表达与频率稳定性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19659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663440"/>
            <a:ext cx="17465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结论边界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572000"/>
            <a:ext cx="45720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24328" y="4663440"/>
            <a:ext cx="43525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不同数据与评价协议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4572000"/>
            <a:ext cx="45262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96328" y="4663440"/>
            <a:ext cx="43068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不能用本项目分数宣称超过原论文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合理定位：可审查的预测与证据流程；创新性不能仅由模型复杂度或候选名称支持。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10 /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当前主要限制及下一阶段的决策门槛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README.md：现有不足和偏差来源、下一步工作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0292" cy="2057400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方法层面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统一比较表与逐癌系图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独立环境完整复跑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保留 PCR 作为强基线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50292" cy="2057400"/>
          </a:xfrm>
          <a:prstGeom prst="rect">
            <a:avLst/>
          </a:prstGeom>
          <a:solidFill>
            <a:srgbClr val="527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527FA7"/>
                </a:solidFill>
                <a:latin typeface="Microsoft YaHei"/>
              </a:defRPr>
            </a:pPr>
            <a:r>
              <a:rPr>
                <a:ea typeface="Microsoft YaHei"/>
              </a:rPr>
              <a:t>患者迁移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单独冻结新模型协议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报告映射敏感性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另寻未使用确认数据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920240"/>
            <a:ext cx="3520440" cy="20574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20240"/>
            <a:ext cx="50292" cy="2057400"/>
          </a:xfrm>
          <a:prstGeom prst="rect">
            <a:avLst/>
          </a:prstGeom>
          <a:solidFill>
            <a:srgbClr val="CE8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21031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功能与安全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752344"/>
            <a:ext cx="31912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患者来源模型扰动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正常肾平行扰动</a:t>
            </a:r>
          </a:p>
          <a:p>
            <a:pPr>
              <a:spcAft>
                <a:spcPts val="300"/>
              </a:spcAft>
              <a:defRPr sz="17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剂量与可比生长终点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公开数据阶段的主要瓶颈：功能真值缺失、少量 ccRCC 模型、细胞系到患者的域差异。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若目标升级为治疗靶点结论，必须补充新的功能证据；继续同类训练不能填补这一缺口。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11 / TAKE-HOME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结论：表达可预测，复杂度不保证收益，患者证据仍有限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README.md；results/historical/deepdep_recovered_comparison_v1/；final_evidence_synthesis_v2/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914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2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7451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方法结论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77439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表达支持可迁移的细胞系选择性依赖排序。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914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200" b="1">
                <a:solidFill>
                  <a:srgbClr val="527FA7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175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527FA7"/>
                </a:solidFill>
                <a:latin typeface="Microsoft YaHei"/>
              </a:defRPr>
            </a:pPr>
            <a:r>
              <a:rPr>
                <a:ea typeface="Microsoft YaHei"/>
              </a:rPr>
              <a:t>模型结论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39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同数据严格比较未发现复杂模型稳定超过 PCR。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914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2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605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CE8151"/>
                </a:solidFill>
                <a:latin typeface="Microsoft YaHei"/>
              </a:defRPr>
            </a:pPr>
            <a:r>
              <a:rPr>
                <a:ea typeface="Microsoft YaHei"/>
              </a:rPr>
              <a:t>生物学结论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获得分层候选与风险线索，尚未证明患者功能依赖或治疗窗。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852160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项目成果是可追溯的候选优先排序与证据边界，不是已验证的临床靶点。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APPENDIX /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83249"/>
                </a:solidFill>
                <a:latin typeface="Microsoft YaHei"/>
              </a:defRPr>
            </a:pPr>
            <a:r>
              <a:rPr>
                <a:ea typeface="Microsoft YaHei"/>
              </a:rPr>
              <a:t>数据与结果来源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91656"/>
            <a:ext cx="11247120" cy="0"/>
          </a:xfrm>
          <a:prstGeom prst="line">
            <a:avLst/>
          </a:prstGeom>
          <a:ln w="16510">
            <a:solidFill>
              <a:srgbClr val="E9F0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473952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所有本项目数值可追溯到仓库 README、冻结配置与版本化 CSV；图形为原生可编辑对象。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5566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70818D"/>
                </a:solidFill>
                <a:latin typeface="Microsoft YaHei"/>
              </a:defRPr>
            </a:pPr>
            <a:r>
              <a:rPr>
                <a:ea typeface="Microsoft YaHe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DepMap 24Q4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2880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doi:10.25452/figshare.plus.27993248.v1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TCGA-DEPMAP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8775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Shi et al. Building a translational cancer dependency map for The Cancer Genome Atlas.</a:t>
            </a:r>
          </a:p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Nature Cancer 5, 1176–1194 (2024). doi:10.1038/s43018-024-00789-y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4670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DeepDEP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46704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2021 原文：pmc.ncbi.nlm.nih.gov/articles/PMC8378822/</a:t>
            </a:r>
          </a:p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官方实现：github.com/chenlab-gccri/DeepDEP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0565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正式模型结果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105656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results/historical/deepdep_recovered_comparison_v1/</a:t>
            </a:r>
          </a:p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advanced_model_benchmark_v1/；sanger_advanced_benchmark_v1/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646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68C91"/>
                </a:solidFill>
                <a:latin typeface="Microsoft YaHei"/>
              </a:defRPr>
            </a:pPr>
            <a:r>
              <a:rPr>
                <a:ea typeface="Microsoft YaHei"/>
              </a:rPr>
              <a:t>候选与患者证据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864608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results/historical/final_evidence_synthesis_v2/；tcga_locked_test_v1/</a:t>
            </a:r>
          </a:p>
          <a:p>
            <a:pPr>
              <a:spcAft>
                <a:spcPts val="300"/>
              </a:spcAft>
              <a:defRPr sz="1400" b="0">
                <a:solidFill>
                  <a:srgbClr val="243D4E"/>
                </a:solidFill>
                <a:latin typeface="Microsoft YaHei"/>
              </a:defRPr>
            </a:pPr>
            <a:r>
              <a:rPr>
                <a:ea typeface="Microsoft YaHei"/>
              </a:rPr>
              <a:t>完整溯源见各页备注和项目 README。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泛癌选择性基因依赖预测与 ccRCC 候选优先排序</dc:title>
  <dc:subject>学术汇报；公开数据；严格基线比较与证据审计</dc:subject>
  <dc:creator>PanCancer-Dependency</dc:creator>
  <cp:keywords>ccRCC; PCR-ridge; DeepDEP; CRISPR; RNAi; editable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